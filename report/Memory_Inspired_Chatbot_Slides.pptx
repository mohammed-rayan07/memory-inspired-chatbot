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800" b="1">
                <a:solidFill>
                  <a:srgbClr val="1F2D4D"/>
                </a:solidFill>
              </a:defRPr>
            </a:pPr>
            <a:r>
              <a:t>A Memory-Inspired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0">
                <a:solidFill>
                  <a:srgbClr val="007A5A"/>
                </a:solidFill>
              </a:defRPr>
            </a:pPr>
            <a:r>
              <a:t>Working memory, long-term memory and forgetting for dialogue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IT 207 Human Intelligence project</a:t>
            </a:r>
          </a:p>
          <a:p>
            <a:pPr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[Team members]  |  [Instructor]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Problem: chatbots forget, or remember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 b="0"/>
            </a:pPr>
            <a:r>
              <a:t>• Stateless between sessions; finite context window</a:t>
            </a:r>
          </a:p>
          <a:p>
            <a:pPr>
              <a:spcAft>
                <a:spcPts val="600"/>
              </a:spcAft>
              <a:defRPr sz="2300" b="0"/>
            </a:pPr>
            <a:r>
              <a:t>• Sliding window: old facts vanish abruptly</a:t>
            </a:r>
          </a:p>
          <a:p>
            <a:pPr>
              <a:spcAft>
                <a:spcPts val="600"/>
              </a:spcAft>
              <a:defRPr sz="2300" b="0"/>
            </a:pPr>
            <a:r>
              <a:t>• Store-everything RAG: unbounded growth, noisy retrieval, stale and updated facts look equally valid</a:t>
            </a:r>
          </a:p>
          <a:p>
            <a:pPr>
              <a:spcAft>
                <a:spcPts val="600"/>
              </a:spcAft>
              <a:defRPr sz="2300" b="0"/>
            </a:pPr>
            <a:r>
              <a:t>• Human memory is selective, bounded and adaptive</a:t>
            </a:r>
          </a:p>
          <a:p>
            <a:pPr>
              <a:spcAft>
                <a:spcPts val="600"/>
              </a:spcAft>
              <a:defRPr sz="2300" b="0"/>
            </a:pPr>
            <a:r>
              <a:t>• Question: does a memory organised like human memory recall more under the same memory budget, and which parts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55555"/>
                </a:solidFill>
              </a:defRPr>
            </a:pPr>
            <a:r>
              <a:t>Computational proxy, not a measurement of anyone's intelligence; inspired by, not a model of, the brain.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Theory behind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 b="0"/>
            </a:pPr>
            <a:r>
              <a:t>• Atkinson &amp; Shiffrin 1968: sensory, short-term, long-term stores; attention and rehearsal control transfer</a:t>
            </a:r>
          </a:p>
          <a:p>
            <a:pPr>
              <a:spcAft>
                <a:spcPts val="600"/>
              </a:spcAft>
              <a:defRPr sz="2300" b="0"/>
            </a:pPr>
            <a:r>
              <a:t>• Baddeley &amp; Hitch 1974; Miller 1956; Cowan 2001: limited-capacity working memory (~7, or ~4)</a:t>
            </a:r>
          </a:p>
          <a:p>
            <a:pPr>
              <a:spcAft>
                <a:spcPts val="600"/>
              </a:spcAft>
              <a:defRPr sz="2300" b="0"/>
            </a:pPr>
            <a:r>
              <a:t>• Tulving 1972: episodic vs. semantic memory; McClelland et al. 1995: consolidation</a:t>
            </a:r>
          </a:p>
          <a:p>
            <a:pPr>
              <a:spcAft>
                <a:spcPts val="600"/>
              </a:spcAft>
              <a:defRPr sz="2300" b="0"/>
            </a:pPr>
            <a:r>
              <a:t>• Ebbinghaus; Anderson &amp; Schooler 1991; ACT-R: B = ln Σ (t − t_j)^−d, decay + rehearsal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pic>
        <p:nvPicPr>
          <p:cNvPr id="4" name="Picture 3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188720"/>
            <a:ext cx="9144000" cy="49329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55555"/>
                </a:solidFill>
              </a:defRPr>
            </a:pPr>
            <a:r>
              <a:t>Attention gate → working memory (7) → episodic + semantic long-term memory → activation-based forgetting under a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Cognitive process → AI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 b="0"/>
            </a:pPr>
            <a:r>
              <a:t>• Selective attention → salience score + attention gate</a:t>
            </a:r>
          </a:p>
          <a:p>
            <a:pPr>
              <a:spcAft>
                <a:spcPts val="600"/>
              </a:spcAft>
              <a:defRPr sz="2300" b="0"/>
            </a:pPr>
            <a:r>
              <a:t>• Working memory → 7-item buffer with displacement and rehearsal counting</a:t>
            </a:r>
          </a:p>
          <a:p>
            <a:pPr>
              <a:spcAft>
                <a:spcPts val="600"/>
              </a:spcAft>
              <a:defRPr sz="2300" b="0"/>
            </a:pPr>
            <a:r>
              <a:t>• Episodic memory → raw utterances + BM25 retrieval</a:t>
            </a:r>
          </a:p>
          <a:p>
            <a:pPr>
              <a:spcAft>
                <a:spcPts val="600"/>
              </a:spcAft>
              <a:defRPr sz="2300" b="0"/>
            </a:pPr>
            <a:r>
              <a:t>• Semantic memory → slot = value facts; newest value supersedes the old</a:t>
            </a:r>
          </a:p>
          <a:p>
            <a:pPr>
              <a:spcAft>
                <a:spcPts val="600"/>
              </a:spcAft>
              <a:defRPr sz="2300" b="0"/>
            </a:pPr>
            <a:r>
              <a:t>• Forgetting / rehearsal → ACT-R activation; lowest-activation trace evicted over budget</a:t>
            </a:r>
          </a:p>
          <a:p>
            <a:pPr>
              <a:spcAft>
                <a:spcPts val="600"/>
              </a:spcAft>
              <a:defRPr sz="2300" b="0"/>
            </a:pPr>
            <a:r>
              <a:t>• User control → /memory (inspect), /forget (delete); declines to answer about third parties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 b="0"/>
            </a:pPr>
            <a:r>
              <a:t>• Synthetic multi-session personas: 5 sessions × 24 turns; facts, updates, third-party distractors, one-off episodes, chit-chat noise</a:t>
            </a:r>
          </a:p>
          <a:p>
            <a:pPr>
              <a:spcAft>
                <a:spcPts val="600"/>
              </a:spcAft>
              <a:defRPr sz="2300" b="0"/>
            </a:pPr>
            <a:r>
              <a:t>• Dev templates for tuning (30 personas); held-out test templates (100 personas, 1200 questions)</a:t>
            </a:r>
          </a:p>
          <a:p>
            <a:pPr>
              <a:spcAft>
                <a:spcPts val="600"/>
              </a:spcAft>
              <a:defRPr sz="2300" b="0"/>
            </a:pPr>
            <a:r>
              <a:t>• Question types: fact, update, unanswerable, episodic detail</a:t>
            </a:r>
          </a:p>
          <a:p>
            <a:pPr>
              <a:spcAft>
                <a:spcPts val="600"/>
              </a:spcAft>
              <a:defRPr sz="2300" b="0"/>
            </a:pPr>
            <a:r>
              <a:t>• Baselines: stateless, sliding window, plain RAG (FIFO, k=3 and 10) at the same item budget; unbounded references</a:t>
            </a:r>
          </a:p>
          <a:p>
            <a:pPr>
              <a:spcAft>
                <a:spcPts val="600"/>
              </a:spcAft>
              <a:defRPr sz="2300" b="0"/>
            </a:pPr>
            <a:r>
              <a:t>• Metrics: accuracy + 95% bootstrap CI, P/R/F1, hallucination, latency, footprint; LoCoMo evidence recall@k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Result: 0.67 vs 0.43 vs 0.35 at budget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/>
            </a:pPr>
            <a:r>
              <a:t>• Memory-inspired 0.673 (95% CI 0.652-0.696)</a:t>
            </a:r>
          </a:p>
          <a:p>
            <a:pPr>
              <a:spcAft>
                <a:spcPts val="600"/>
              </a:spcAft>
              <a:defRPr sz="2000" b="0"/>
            </a:pPr>
            <a:r>
              <a:t>• Window 0.435; plain RAG 0.348</a:t>
            </a:r>
          </a:p>
          <a:p>
            <a:pPr>
              <a:spcAft>
                <a:spcPts val="600"/>
              </a:spcAft>
              <a:defRPr sz="2000" b="0"/>
            </a:pPr>
            <a:r>
              <a:t>• Paired gain over window +0.24 (CI excludes 0)</a:t>
            </a:r>
          </a:p>
          <a:p>
            <a:pPr>
              <a:spcAft>
                <a:spcPts val="600"/>
              </a:spcAft>
              <a:defRPr sz="2000" b="0"/>
            </a:pPr>
            <a:r>
              <a:t>• Full-context reference 0.754: keeping everything is better when it fits</a:t>
            </a:r>
          </a:p>
        </p:txBody>
      </p:sp>
      <p:pic>
        <p:nvPicPr>
          <p:cNvPr id="5" name="Picture 4" descr="fig4_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400800" cy="39729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Budget sweep: help when memory is scarce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/>
            </a:pPr>
            <a:r>
              <a:t>• Advantage of +0.19 to +0.24 at budgets 12-40</a:t>
            </a:r>
          </a:p>
          <a:p>
            <a:pPr>
              <a:spcAft>
                <a:spcPts val="600"/>
              </a:spcAft>
              <a:defRPr sz="2000" b="0"/>
            </a:pPr>
            <a:r>
              <a:t>• Flat after 40: it has already kept what it will keep</a:t>
            </a:r>
          </a:p>
          <a:p>
            <a:pPr>
              <a:spcAft>
                <a:spcPts val="600"/>
              </a:spcAft>
              <a:defRPr sz="2000" b="0"/>
            </a:pPr>
            <a:r>
              <a:t>• At budget 120 the window wins (0.754 vs 0.676)</a:t>
            </a:r>
          </a:p>
          <a:p>
            <a:pPr>
              <a:spcAft>
                <a:spcPts val="600"/>
              </a:spcAft>
              <a:defRPr sz="2000" b="0"/>
            </a:pPr>
            <a:r>
              <a:t>• Claim is narrow: selective memory under scarcity</a:t>
            </a:r>
          </a:p>
        </p:txBody>
      </p:sp>
      <p:pic>
        <p:nvPicPr>
          <p:cNvPr id="5" name="Picture 4" descr="fig3_budget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88720"/>
            <a:ext cx="6035040" cy="41723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Ablations: what actually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/>
            </a:pPr>
            <a:r>
              <a:t>• Semantic memory: biggest effect (−0.06 / −0.10)</a:t>
            </a:r>
          </a:p>
          <a:p>
            <a:pPr>
              <a:spcAft>
                <a:spcPts val="600"/>
              </a:spcAft>
              <a:defRPr sz="2000" b="0"/>
            </a:pPr>
            <a:r>
              <a:t>• Attention gate: −0.10 at B=40</a:t>
            </a:r>
          </a:p>
          <a:p>
            <a:pPr>
              <a:spcAft>
                <a:spcPts val="600"/>
              </a:spcAft>
              <a:defRPr sz="2000" b="0"/>
            </a:pPr>
            <a:r>
              <a:t>• Decay: −0.05 at B=20, none at B=40</a:t>
            </a:r>
          </a:p>
          <a:p>
            <a:pPr>
              <a:spcAft>
                <a:spcPts val="600"/>
              </a:spcAft>
              <a:defRPr sz="2000" b="0"/>
            </a:pPr>
            <a:r>
              <a:t>• Supersession: small</a:t>
            </a:r>
          </a:p>
          <a:p>
            <a:pPr>
              <a:spcAft>
                <a:spcPts val="600"/>
              </a:spcAft>
              <a:defRPr sz="2000" b="0"/>
            </a:pPr>
            <a:r>
              <a:t>• Working memory: no measurable benefit (negative result)</a:t>
            </a:r>
          </a:p>
        </p:txBody>
      </p:sp>
      <p:pic>
        <p:nvPicPr>
          <p:cNvPr id="5" name="Picture 4" descr="fig5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6949440" cy="25937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Perception vs.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/>
            </a:pPr>
            <a:r>
              <a:t>• Extractor on held-out phrasing: P 0.96, R 0.73</a:t>
            </a:r>
          </a:p>
          <a:p>
            <a:pPr>
              <a:spcAft>
                <a:spcPts val="600"/>
              </a:spcAft>
              <a:defRPr sz="2000" b="0"/>
            </a:pPr>
            <a:r>
              <a:t>• Question parser covers 79% of held-out questions</a:t>
            </a:r>
          </a:p>
          <a:p>
            <a:pPr>
              <a:spcAft>
                <a:spcPts val="600"/>
              </a:spcAft>
              <a:defRPr sz="2000" b="0"/>
            </a:pPr>
            <a:r>
              <a:t>• Oracle perception: 0.90 vs 0.61 (window) at B=40</a:t>
            </a:r>
          </a:p>
          <a:p>
            <a:pPr>
              <a:spcAft>
                <a:spcPts val="600"/>
              </a:spcAft>
              <a:defRPr sz="2000" b="0"/>
            </a:pPr>
            <a:r>
              <a:t>• Bottleneck = rule-based perception → use an LLM extractor</a:t>
            </a:r>
          </a:p>
        </p:txBody>
      </p:sp>
      <p:pic>
        <p:nvPicPr>
          <p:cNvPr id="5" name="Picture 4" descr="fig6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943600" cy="38194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Real data: LoCoMo evidence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/>
            </a:pPr>
            <a:r>
              <a:t>• 1536 questions, 10 human-reviewed conversations</a:t>
            </a:r>
          </a:p>
          <a:p>
            <a:pPr>
              <a:spcAft>
                <a:spcPts val="600"/>
              </a:spcAft>
              <a:defRPr sz="2000" b="0"/>
            </a:pPr>
            <a:r>
              <a:t>• Fixed budgets: higher recall@5 than BM25+FIFO (0.145 vs 0.111 at 100 turns)</a:t>
            </a:r>
          </a:p>
          <a:p>
            <a:pPr>
              <a:spcAft>
                <a:spcPts val="600"/>
              </a:spcAft>
              <a:defRPr sz="2000" b="0"/>
            </a:pPr>
            <a:r>
              <a:t>• Unbounded: BM25 is better (0.490 vs 0.455)</a:t>
            </a:r>
          </a:p>
          <a:p>
            <a:pPr>
              <a:spcAft>
                <a:spcPts val="600"/>
              </a:spcAft>
              <a:defRPr sz="2000" b="0"/>
            </a:pPr>
            <a:r>
              <a:t>• Retrieval only: no reader evaluated</a:t>
            </a:r>
          </a:p>
        </p:txBody>
      </p:sp>
      <p:pic>
        <p:nvPicPr>
          <p:cNvPr id="5" name="Picture 4" descr="fig9_loco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669280" cy="37512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Live demo: persistence, update, abstention,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/>
            </a:pPr>
            <a:r>
              <a:t>• python chat.py   (/memory, /forget, /skip)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/>
            </a:pPr>
            <a:r>
              <a:t>you&gt; What is my name?</a:t>
            </a:r>
          </a:p>
          <a:p>
            <a:pPr>
              <a:spcAft>
                <a:spcPts val="600"/>
              </a:spcAft>
              <a:defRPr sz="2000" b="0"/>
            </a:pPr>
            <a:r>
              <a:t>bot&gt; Your name is Priya.</a:t>
            </a:r>
          </a:p>
          <a:p>
            <a:pPr>
              <a:spcAft>
                <a:spcPts val="600"/>
              </a:spcAft>
              <a:defRPr sz="2000" b="0"/>
            </a:pPr>
            <a:r>
              <a:t>you&gt; Where do I live?</a:t>
            </a:r>
          </a:p>
          <a:p>
            <a:pPr>
              <a:spcAft>
                <a:spcPts val="600"/>
              </a:spcAft>
              <a:defRPr sz="2000" b="0"/>
            </a:pPr>
            <a:r>
              <a:t>bot&gt; You live in Toronto.</a:t>
            </a:r>
          </a:p>
          <a:p>
            <a:pPr>
              <a:spcAft>
                <a:spcPts val="600"/>
              </a:spcAft>
              <a:defRPr sz="2000" b="0"/>
            </a:pPr>
            <a:r>
              <a:t>you&gt; Where does my sister live?</a:t>
            </a:r>
          </a:p>
          <a:p>
            <a:pPr>
              <a:spcAft>
                <a:spcPts val="600"/>
              </a:spcAft>
              <a:defRPr sz="2000" b="0"/>
            </a:pPr>
            <a:r>
              <a:t>bot&gt; I only keep track of facts about you, not about other people.</a:t>
            </a:r>
          </a:p>
          <a:p>
            <a:pPr>
              <a:spcAft>
                <a:spcPts val="600"/>
              </a:spcAft>
              <a:defRPr sz="2000" b="0"/>
            </a:pPr>
            <a:r>
              <a:t>you&gt; What is my favorite color?</a:t>
            </a:r>
          </a:p>
          <a:p>
            <a:pPr>
              <a:spcAft>
                <a:spcPts val="600"/>
              </a:spcAft>
              <a:defRPr sz="2000" b="0"/>
            </a:pPr>
            <a:r>
              <a:t>bot&gt; I don't know — you haven't told me that.</a:t>
            </a:r>
          </a:p>
          <a:p>
            <a:pPr>
              <a:spcAft>
                <a:spcPts val="600"/>
              </a:spcAft>
              <a:defRPr sz="2000" b="0"/>
            </a:pPr>
            <a:r>
              <a:t>you&gt; /forget city</a:t>
            </a:r>
          </a:p>
          <a:p>
            <a:pPr>
              <a:spcAft>
                <a:spcPts val="600"/>
              </a:spcAft>
              <a:defRPr sz="2000" b="0"/>
            </a:pPr>
            <a:r>
              <a:t>bot&gt; Forgot your city (6 items removed).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Ethics and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 b="0"/>
            </a:pPr>
            <a:r>
              <a:t>• Privacy: bounded retention; /memory transparency; /forget deletion; no answers about third parties</a:t>
            </a:r>
          </a:p>
          <a:p>
            <a:pPr>
              <a:spcAft>
                <a:spcPts val="600"/>
              </a:spcAft>
              <a:defRPr sz="2300" b="0"/>
            </a:pPr>
            <a:r>
              <a:t>• Gaps: third-party text still stored until evicted; no encryption or user separation</a:t>
            </a:r>
          </a:p>
          <a:p>
            <a:pPr>
              <a:spcAft>
                <a:spcPts val="600"/>
              </a:spcAft>
              <a:defRPr sz="2300" b="0"/>
            </a:pPr>
            <a:r>
              <a:t>• Bias: English, capitalised Latin-script names; heuristic salience decides what is 'important'</a:t>
            </a:r>
          </a:p>
          <a:p>
            <a:pPr>
              <a:spcAft>
                <a:spcPts val="600"/>
              </a:spcAft>
              <a:defRPr sz="2300" b="0"/>
            </a:pPr>
            <a:r>
              <a:t>• No over-claiming: not a measure of intelligence; ACT-R values borrowed, not fitted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 b="0"/>
            </a:pPr>
            <a:r>
              <a:t>• Synthetic templated benchmark; rule-based perception; templated replies; no human evaluation</a:t>
            </a:r>
          </a:p>
          <a:p>
            <a:pPr>
              <a:spcAft>
                <a:spcPts val="600"/>
              </a:spcAft>
              <a:defRPr sz="2300" b="0"/>
            </a:pPr>
            <a:r>
              <a:t>• Working memory buffer did not help here; budget counted in items, not tokens</a:t>
            </a:r>
          </a:p>
          <a:p>
            <a:pPr>
              <a:spcAft>
                <a:spcPts val="600"/>
              </a:spcAft>
              <a:defRPr sz="2300" b="0"/>
            </a:pPr>
            <a:r>
              <a:t>• Next: LLM extractor/reader; embeddings; learned salience; LongMemEval and MSC; consolidation by summarising; privacy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 b="0"/>
            </a:pPr>
            <a:r>
              <a:t>• Under scarce memory, a cognitively organised memory answered 0.67 vs 0.43/0.35, and 0.90 with perfect perception</a:t>
            </a:r>
          </a:p>
          <a:p>
            <a:pPr>
              <a:spcAft>
                <a:spcPts val="600"/>
              </a:spcAft>
              <a:defRPr sz="2300" b="0"/>
            </a:pPr>
            <a:r>
              <a:t>• Gain comes from compact semantic memory and selective encoding; decay matters when memory is tight</a:t>
            </a:r>
          </a:p>
          <a:p>
            <a:pPr>
              <a:spcAft>
                <a:spcPts val="600"/>
              </a:spcAft>
              <a:defRPr sz="2300" b="0"/>
            </a:pPr>
            <a:r>
              <a:t>• Not better than keeping everything when everything fits</a:t>
            </a:r>
          </a:p>
          <a:p>
            <a:pPr>
              <a:spcAft>
                <a:spcPts val="600"/>
              </a:spcAft>
              <a:defRPr sz="2300" b="0"/>
            </a:pPr>
            <a:r>
              <a:t>• Theory-inspired design is useful for deciding what to forget, not automatically smarter</a:t>
            </a:r>
          </a:p>
          <a:p>
            <a:pPr>
              <a:spcAft>
                <a:spcPts val="600"/>
              </a:spcAft>
              <a:defRPr sz="2300" b="0"/>
            </a:pPr>
            <a:r>
              <a:t>• Code, data generator and all numbers are reproducible (see README)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